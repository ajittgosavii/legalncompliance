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Segoe UI"/>
              </a:rPr>
              <a:t>Regulatory Compliance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0">
                <a:solidFill>
                  <a:srgbClr val="CBD5E1"/>
                </a:solidFill>
                <a:latin typeface="Segoe UI"/>
              </a:rPr>
              <a:t>From reacting to regulatory change — to getting ahead of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337560"/>
            <a:ext cx="4937760" cy="4572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94A3B8"/>
                </a:solidFill>
                <a:latin typeface="Segoe UI"/>
              </a:rPr>
              <a:t>Seven agents turn dense regulatory prose into atomic, testable obligations — each with 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94A3B8"/>
                </a:solidFill>
                <a:latin typeface="Segoe UI"/>
              </a:rPr>
              <a:t>machine-verified citation back to the source — score their impact, and assemble audit-ready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94A3B8"/>
                </a:solidFill>
                <a:latin typeface="Segoe UI"/>
              </a:rPr>
              <a:t>evidence packages with gap analysis. A human always signs off.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Leadership briefing  ·  Infosys  ·  Anchor client: Pacific Gas and Electric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64748B"/>
                </a:solidFill>
                <a:latin typeface="Segoe UI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PG&amp;E answers to nine regulators. Today, proving compliance is manual.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00784"/>
            <a:ext cx="11091672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440680" cy="21031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883664"/>
            <a:ext cx="50017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What happens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304288"/>
            <a:ext cx="5001768" cy="1389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• Analysts read hundreds of pages of dense legal prose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• Obligations are hand-extracted into spreadsheets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• Document owners are chased for audit evidence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• Enforcement precedent lives in institutional memory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• Evidence gaps are discovered DURING an audit — not before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737360"/>
            <a:ext cx="5440680" cy="210312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87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883664"/>
            <a:ext cx="50017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E40AF"/>
                </a:solidFill>
                <a:latin typeface="Segoe UI"/>
              </a:rPr>
              <a:t>Why PG&amp;E specifically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304288"/>
            <a:ext cx="5001768" cy="1389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PG&amp;E's binding constraint is not KNOWING the rule.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It is PROVING compliance on demand, repeatedly, under sustained regulatory scrutiny.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So the costly failure mode is not a rule discovered late. It is an evidence gap found by an auditor rather than by PG&amp;E.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6908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254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24528"/>
            <a:ext cx="106070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2410C"/>
                </a:solidFill>
                <a:latin typeface="Segoe UI"/>
              </a:rPr>
              <a:t>The insight that makes this a business case, not a productivity tool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Under AB 1054, demonstrated WMP compliance and the annual Safety Certification affect the presumption applied in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cost-recovery proceedings. Separately, the CPUC can DISALLOW claimed costs where compliance cannot be evidenced.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Evidence quality is therefore an INPUT TO COST RECOVERY — not administrative overhead.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5508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⚠ The precise legal mechanics of the AB 1054 presumption must be confirmed with qualified counsel before any dollar figure is attached to this chain. What is defensible is the mechanism — not yet a quantified saving.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64748B"/>
                </a:solidFill>
                <a:latin typeface="Segoe UI"/>
              </a:rPr>
              <a:t>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What the platform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Four modules. Seven agents. One traceable chain.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00784"/>
            <a:ext cx="11091672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468112" cy="14630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911095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Module 1 — Regulatory Monitor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185416"/>
            <a:ext cx="5029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1">
                <a:solidFill>
                  <a:srgbClr val="64748B"/>
                </a:solidFill>
                <a:latin typeface="Segoe UI"/>
              </a:rPr>
              <a:t>Agentic · 5-node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441448"/>
            <a:ext cx="5029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Monitors 9 regulators. Classifies each change, then extracts obligations: who must do what, by when, measured how, penalty if not — each with a VERIFIED source quote.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7" y="1783080"/>
            <a:ext cx="5468112" cy="14630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1911095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Module 2 — Obligation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2185416"/>
            <a:ext cx="5029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1">
                <a:solidFill>
                  <a:srgbClr val="64748B"/>
                </a:solidFill>
                <a:latin typeface="Segoe UI"/>
              </a:rPr>
              <a:t>Agentic · 4-node 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441448"/>
            <a:ext cx="5029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Decomposes a regulation into atomic obligations, finds conflicts with the existing estate, and scores four dimensions: cost, operations, timeline, penalty risk.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83280"/>
            <a:ext cx="5468112" cy="146304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22225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3511296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C2410C"/>
                </a:solidFill>
                <a:latin typeface="Segoe UI"/>
              </a:rPr>
              <a:t>Module 3 — Audit Preparation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3785616"/>
            <a:ext cx="5029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1">
                <a:solidFill>
                  <a:srgbClr val="64748B"/>
                </a:solidFill>
                <a:latin typeface="Segoe UI"/>
              </a:rPr>
              <a:t>Agentic · Supervisor + 3 specialists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4041648"/>
            <a:ext cx="5029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THE FLAGSHIP. Evidence Collector, Gap Analyzer and Response Drafter, coordinated by a Supervisor. Ends in a 0–100 audit readiness score.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7" y="3383280"/>
            <a:ext cx="5468112" cy="14630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3511296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Module 4 — Case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3785616"/>
            <a:ext cx="5029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1">
                <a:solidFill>
                  <a:srgbClr val="64748B"/>
                </a:solidFill>
                <a:latin typeface="Segoe UI"/>
              </a:rPr>
              <a:t>Generative · RAG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4041648"/>
            <a:ext cx="5029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Precedent search and penalty-trend analysis over the enforcement record. Loads with NO LLM call — the zero-cost entry point for any demo.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074920"/>
            <a:ext cx="11091672" cy="105156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23036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What Module 3 actually produces — the artefact a regulator asks for when it says “show me”: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REGULATION → OBLIGATION → EVIDENCE DOCUMENT → GAP → OWNER + DATE → DRAFTED RESPONSE → READINESS SCORE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64748B"/>
                </a:solidFill>
                <a:latin typeface="Segoe UI"/>
              </a:rPr>
              <a:t>DOMAIN GROUNDING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The regulatory perimeter — and the detail that earns credibility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Nine bodies. One of them was missing, and its absence would have ended the conversation.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00784"/>
            <a:ext cx="11091672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097280" cy="50292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87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01952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E40AF"/>
                </a:solidFill>
                <a:latin typeface="Segoe UI"/>
              </a:rPr>
              <a:t>CPUC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92224" y="1783080"/>
            <a:ext cx="1097280" cy="50292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254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37943" y="1901952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C2410C"/>
                </a:solidFill>
                <a:latin typeface="Segoe UI"/>
              </a:rPr>
              <a:t>OEIS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35808" y="1783080"/>
            <a:ext cx="1097280" cy="50292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87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81528" y="1901952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E40AF"/>
                </a:solidFill>
                <a:latin typeface="Segoe UI"/>
              </a:rPr>
              <a:t>FERC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1783080"/>
            <a:ext cx="1097280" cy="50292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87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2" y="1901952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E40AF"/>
                </a:solidFill>
                <a:latin typeface="Segoe UI"/>
              </a:rPr>
              <a:t>NERC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22976" y="1783080"/>
            <a:ext cx="1097280" cy="50292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87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68696" y="1901952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E40AF"/>
                </a:solidFill>
                <a:latin typeface="Segoe UI"/>
              </a:rPr>
              <a:t>CARB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1783080"/>
            <a:ext cx="1097280" cy="50292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87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1901952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E40AF"/>
                </a:solidFill>
                <a:latin typeface="Segoe UI"/>
              </a:rPr>
              <a:t>EPA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1783080"/>
            <a:ext cx="1097280" cy="50292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87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55864" y="1901952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E40AF"/>
                </a:solidFill>
                <a:latin typeface="Segoe UI"/>
              </a:rPr>
              <a:t>PHMSA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53728" y="1783080"/>
            <a:ext cx="1097280" cy="50292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87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8" y="1901952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E40AF"/>
                </a:solidFill>
                <a:latin typeface="Segoe UI"/>
              </a:rPr>
              <a:t>Cal-OSHA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97312" y="1783080"/>
            <a:ext cx="1097280" cy="50292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87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43032" y="1901952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E40AF"/>
                </a:solidFill>
                <a:latin typeface="Segoe UI"/>
              </a:rPr>
              <a:t>CEC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514600"/>
            <a:ext cx="11091672" cy="160020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254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2670048"/>
            <a:ext cx="10607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500" b="1">
                <a:solidFill>
                  <a:srgbClr val="C2410C"/>
                </a:solidFill>
                <a:latin typeface="Segoe UI"/>
              </a:rPr>
              <a:t>A defect we found and fixed — and it matters more than it looks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The original codebase routed Wildfire Mitigation Plans to the CPUC, and did not list OEIS as a regulator at all.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Since 2021, WMPs are filed with and approved by the Office of Energy Infrastructure Safety (OEIS), which also issues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the annual Safety Certification. The CPUC ratifies.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Getting this wrong in front of PG&amp;E's regulatory affairs team — on the single topic they care most about — would have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ended the credibility conversation before the demo started.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343400"/>
            <a:ext cx="5440680" cy="160020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1587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4489704"/>
            <a:ext cx="50017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66534"/>
                </a:solidFill>
                <a:latin typeface="Segoe UI"/>
              </a:rPr>
              <a:t>What we changed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4910328"/>
            <a:ext cx="5001768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• OEIS is now a first-class monitored regulator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• The WMP regulation is retargeted to OEIS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• The system prompt carries an explicit instruction: “Never state that a WMP is filed with or approved by the CPUC.”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2" y="4343400"/>
            <a:ext cx="5440680" cy="16002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4489704"/>
            <a:ext cx="50017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Why it is the whole argument in miniature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4910328"/>
            <a:ext cx="5001768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This is the error a GENERIC RegTech tool makes and a DOMAIN-GROUNDED one does not.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Regulatory nuance is not a feature. It is the difference between a tool PG&amp;E trusts and one it politely declines.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64748B"/>
                </a:solidFill>
                <a:latin typeface="Segoe UI"/>
              </a:rPr>
              <a:t>PAIN AREAS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The pain this removes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Where the hours go, and where the money leaks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00784"/>
            <a:ext cx="11091672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468112" cy="1325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929384"/>
            <a:ext cx="5029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Hours of manual rule-reading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350008"/>
            <a:ext cx="502920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A single CPUC decision contains a dozen separately-testable duties buried in prose, each with its own deadline, measurement method and penalty. An analyst extracts them by hand into a spreadsheet.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7" y="1783080"/>
            <a:ext cx="5468112" cy="1325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929384"/>
            <a:ext cx="5029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Audit-day surprises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350008"/>
            <a:ext cx="502920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Evidence gaps are found when the auditor finds them. By then the only options are bad ones.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64408"/>
            <a:ext cx="5468112" cy="1325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5029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Stale evidence, invisibly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831336"/>
            <a:ext cx="502920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A procedure that was current three years ago still looks current in the folder. Nobody re-reads 48 documents before an audit.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7" y="3264408"/>
            <a:ext cx="5468112" cy="1325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3410712"/>
            <a:ext cx="5029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Conflicts nobody catches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3831336"/>
            <a:ext cx="502920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New OEIS and CPUC requirements routinely collide with GO 95/165 and existing WMP commitments. Nothing systematically checks.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45736"/>
            <a:ext cx="5468112" cy="1325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4892040"/>
            <a:ext cx="5029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Precedent as folklore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5312664"/>
            <a:ext cx="502920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Penalty-exposure conversations rest on who remembers what. Decades of enforcement history sit unread.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7" y="4745736"/>
            <a:ext cx="5468112" cy="1325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4892040"/>
            <a:ext cx="5029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Deadlines discovered 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312664"/>
            <a:ext cx="502920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An obligation with no owner and no date is a missed deadline waiting for a calendar.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64748B"/>
                </a:solidFill>
                <a:latin typeface="Segoe U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End-to-end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From regulator to signed-off audit package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00784"/>
            <a:ext cx="11091672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691640" cy="201168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29968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E40A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E40AF"/>
                </a:solidFill>
                <a:latin typeface="Segoe UI"/>
              </a:rPr>
              <a:t>INGEST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88920"/>
            <a:ext cx="1417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Monitor 9 regulators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for change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58568" y="2743200"/>
            <a:ext cx="146304" cy="201168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23160" y="1920240"/>
            <a:ext cx="1691640" cy="201168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2029968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C2410C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37744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C2410C"/>
                </a:solidFill>
                <a:latin typeface="Segoe UI"/>
              </a:rPr>
              <a:t>EXTRACT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788920"/>
            <a:ext cx="1417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Atomic obligations +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VERBATIM source quote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133087" y="2743200"/>
            <a:ext cx="146304" cy="201168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97679" y="1920240"/>
            <a:ext cx="1691640" cy="201168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2029968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B91C1C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37744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B91C1C"/>
                </a:solidFill>
                <a:latin typeface="Segoe UI"/>
              </a:rPr>
              <a:t>VERIFY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788920"/>
            <a:ext cx="1417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Does that quote really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exist? Checked in CODE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007607" y="2743200"/>
            <a:ext cx="146304" cy="201168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72199" y="1920240"/>
            <a:ext cx="1691640" cy="201168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2029968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B45309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237744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Segoe UI"/>
              </a:rPr>
              <a:t>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2788920"/>
            <a:ext cx="1417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Cost · operations ·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timeline · penalty risk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882127" y="2743200"/>
            <a:ext cx="146304" cy="201168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46719" y="1920240"/>
            <a:ext cx="1691640" cy="201168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79" y="2029968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66534"/>
                </a:solidFill>
                <a:latin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237744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66534"/>
                </a:solidFill>
                <a:latin typeface="Segoe UI"/>
              </a:rPr>
              <a:t>ASSEMBLE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2788920"/>
            <a:ext cx="1417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Evidence → gaps →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owners → responses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756647" y="2743200"/>
            <a:ext cx="146304" cy="201168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21240" y="1920240"/>
            <a:ext cx="1691640" cy="20116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587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0" y="2029968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237744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SIGN OFF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2788920"/>
            <a:ext cx="1417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FFFFFF"/>
                </a:solidFill>
                <a:latin typeface="Segoe UI"/>
              </a:rPr>
              <a:t>Human reviewer.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FFFFFF"/>
                </a:solidFill>
                <a:latin typeface="Segoe UI"/>
              </a:rPr>
              <a:t>The platform files nothing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251960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222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407408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B91C1C"/>
                </a:solidFill>
                <a:latin typeface="Segoe UI"/>
              </a:rPr>
              <a:t>THE GATE — provenance is a CODE check, not a prompt instruction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Every obligation must quote the regulation verbatim, and the system verifies the quote exists. The model cannot talk its way past code. An obligation it cannot trace is flagged ⚠ UNVERIFIED — never presented as fact.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394960"/>
            <a:ext cx="11091672" cy="77724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222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53212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66534"/>
                </a:solidFill>
                <a:latin typeface="Segoe UI"/>
              </a:rPr>
              <a:t>Every package is stamped PENDING_HUMAN_REVIEW. The platform PREPARES the submission. It never files it. PG&amp;E remains accountable.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64748B"/>
                </a:solidFill>
                <a:latin typeface="Segoe U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High-level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The agents contain no industry logic — that is the reuse thesis.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00784"/>
            <a:ext cx="11091672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91672" cy="6858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778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3200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1">
                <a:solidFill>
                  <a:srgbClr val="64748B"/>
                </a:solidFill>
                <a:latin typeface="Segoe UI"/>
              </a:rPr>
              <a:t>1 — REGULATORY SOURCES · 9 BODIES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48256"/>
            <a:ext cx="1097280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093976"/>
            <a:ext cx="1042415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1E40AF"/>
                </a:solidFill>
                <a:latin typeface="Segoe UI"/>
              </a:rPr>
              <a:t>CPUC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75104" y="2048256"/>
            <a:ext cx="1097280" cy="292608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905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02536" y="2093976"/>
            <a:ext cx="1042415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C2410C"/>
                </a:solidFill>
                <a:latin typeface="Segoe UI"/>
              </a:rPr>
              <a:t>OEIS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72968" y="2048256"/>
            <a:ext cx="1097280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2093976"/>
            <a:ext cx="1042415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1E40AF"/>
                </a:solidFill>
                <a:latin typeface="Segoe UI"/>
              </a:rPr>
              <a:t>FERC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2048256"/>
            <a:ext cx="1097280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8264" y="2093976"/>
            <a:ext cx="1042415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1E40AF"/>
                </a:solidFill>
                <a:latin typeface="Segoe UI"/>
              </a:rPr>
              <a:t>NERC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68696" y="2048256"/>
            <a:ext cx="1097280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96128" y="2093976"/>
            <a:ext cx="1042415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1E40AF"/>
                </a:solidFill>
                <a:latin typeface="Segoe UI"/>
              </a:rPr>
              <a:t>CARB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2048256"/>
            <a:ext cx="1097280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93992" y="2093976"/>
            <a:ext cx="1042415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1E40AF"/>
                </a:solidFill>
                <a:latin typeface="Segoe UI"/>
              </a:rPr>
              <a:t>EPA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64424" y="2048256"/>
            <a:ext cx="1097280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91856" y="2093976"/>
            <a:ext cx="1042415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1E40AF"/>
                </a:solidFill>
                <a:latin typeface="Segoe UI"/>
              </a:rPr>
              <a:t>PHMSA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62288" y="2048256"/>
            <a:ext cx="1097280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19" y="2093976"/>
            <a:ext cx="1042415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1E40AF"/>
                </a:solidFill>
                <a:latin typeface="Segoe UI"/>
              </a:rPr>
              <a:t>Cal-OSHA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60152" y="2048256"/>
            <a:ext cx="1097280" cy="292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87584" y="2093976"/>
            <a:ext cx="1042415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1E40AF"/>
                </a:solidFill>
                <a:latin typeface="Segoe UI"/>
              </a:rPr>
              <a:t>CEC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2560320"/>
            <a:ext cx="11091672" cy="146304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7780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2633472"/>
            <a:ext cx="5486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1">
                <a:solidFill>
                  <a:srgbClr val="64748B"/>
                </a:solidFill>
                <a:latin typeface="Segoe UI"/>
              </a:rPr>
              <a:t>2 — SEVEN AGENTS · FOUR WORKFLOWS (LangGraph)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2889504"/>
            <a:ext cx="248716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2962656"/>
            <a:ext cx="226771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  <a:latin typeface="Segoe UI"/>
              </a:rPr>
              <a:t>WF-01 Monitor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" y="3218688"/>
            <a:ext cx="226771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Segoe UI"/>
              </a:rPr>
              <a:t>Fetch → Classify → Extract+VERIFY → Map → Alert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01568" y="2889504"/>
            <a:ext cx="21488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11296" y="2962656"/>
            <a:ext cx="192938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  <a:latin typeface="Segoe UI"/>
              </a:rPr>
              <a:t>WF-02 Impact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11296" y="3218688"/>
            <a:ext cx="192938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Segoe UI"/>
              </a:rPr>
              <a:t>Decompose → Cross-ref → Score → Report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87568" y="2889504"/>
            <a:ext cx="3291840" cy="96012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22225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97296" y="2962656"/>
            <a:ext cx="307238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C2410C"/>
                </a:solidFill>
                <a:latin typeface="Segoe UI"/>
              </a:rPr>
              <a:t>WF-03 Audit Prep — FLAGSHIP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97296" y="3218688"/>
            <a:ext cx="307238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Segoe UI"/>
              </a:rPr>
              <a:t>Supervisor + Evidence + Gaps + Responses → 0–100 score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2889504"/>
            <a:ext cx="23774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53728" y="2962656"/>
            <a:ext cx="215798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  <a:latin typeface="Segoe UI"/>
              </a:rPr>
              <a:t>WF-04 Cases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53728" y="3218688"/>
            <a:ext cx="215798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Segoe UI"/>
              </a:rPr>
              <a:t>RAG precedent · trends · risk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4160520"/>
            <a:ext cx="5440680" cy="105156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222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4251960"/>
            <a:ext cx="51206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B91C1C"/>
                </a:solidFill>
                <a:latin typeface="Segoe UI"/>
              </a:rPr>
              <a:t>3a — PROVENANCE: a CODE check, not a prompt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Every obligation must quote the regulation verbatim; the system verifies the quote exists in the source. Unverifiable → flagged, downgraded, never shown as fact.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9632" y="4160520"/>
            <a:ext cx="5440680" cy="105156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222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82512" y="4251960"/>
            <a:ext cx="51206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166534"/>
                </a:solidFill>
                <a:latin typeface="Segoe UI"/>
              </a:rPr>
              <a:t>3b — HUMAN REVIEW GATE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PENDING_HUMAN_REVIEW on every package. Decision support, never a compliance determination. Nothing reaches a regulator without sign-off.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5468112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4 — SWAPPABLE INDUSTRY PACKS   ·   Energy &amp; Utilities (PG&amp;E) · Retail · Resources · Services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CBD5E1"/>
                </a:solidFill>
                <a:latin typeface="Segoe UI"/>
              </a:rPr>
              <a:t>Switch the pack and all 7 agents re-target. No agent code changes. Each new vertical ≈ 2.5 FTE-months.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35508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Editable SVG delivered separately: docs/RegCompliance_Architecture.svg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64748B"/>
                </a:solidFill>
                <a:latin typeface="Segoe UI"/>
              </a:rPr>
              <a:t>DIFFERENTIATION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How this stands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We went looking for a reason not to build it. This is what survived.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00784"/>
            <a:ext cx="11091672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440680" cy="16002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77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5029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Be ready for this question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“Doesn't Archer / Workiva / MetricStream already do obligation extraction?”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Yes — for a GENERIC, cross-industry compliance market.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737360"/>
            <a:ext cx="5440680" cy="160020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222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847088"/>
            <a:ext cx="5029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250" b="1">
                <a:solidFill>
                  <a:srgbClr val="166534"/>
                </a:solidFill>
                <a:latin typeface="Segoe UI"/>
              </a:rPr>
              <a:t>The answer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This is not a product competing for market share. It is a CLIENT IMPLEMENTATION in PG&amp;E's environment, grounded in PG&amp;E's regulators, PG&amp;E's departments, and PG&amp;E's obligation estate.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A generic tool routes WMPs to the CPUC. We do not.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20440"/>
            <a:ext cx="5468112" cy="12344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3666744"/>
            <a:ext cx="5029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Provenance is CODE, not a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4087368"/>
            <a:ext cx="502920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The system verifies the model's citation against the real regulation. Unverifiable obligations are flagged, never presented as fact. This is what makes it deployable in a regulated utility at all.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3520440"/>
            <a:ext cx="5468112" cy="12344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3666744"/>
            <a:ext cx="5029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Human review is a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4087368"/>
            <a:ext cx="502920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Module 3 drafts submission-grade text. Every package is stamped PENDING_HUMAN_REVIEW. The platform prepares; it never files.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92040"/>
            <a:ext cx="5468112" cy="12344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5038344"/>
            <a:ext cx="5029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Deep domain grounding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5458968"/>
            <a:ext cx="502920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OEIS vs CPUC. GO 95. GO 165. Rule 20. HFTD tiers. PSPS. This is the vocabulary PG&amp;E actually uses — and getting it wrong is disqualifying.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4892040"/>
            <a:ext cx="5468112" cy="12344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5038344"/>
            <a:ext cx="5029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Swappable industry packs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5458968"/>
            <a:ext cx="502920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The same 7 agents serve Retail, Resources and Services. Build once, re-target. Each new vertical ≈ 2.5 FTE-months.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35508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Honest limit: features are not a moat. The durable advantages are domain grounding, the provenance method, integration depth into PG&amp;E's document systems, and the client relationship.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64748B"/>
                </a:solidFill>
                <a:latin typeface="Segoe UI"/>
              </a:rPr>
              <a:t>COMMERCIALS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Financial model — Infosys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Every figure here is ILLUSTRATIVE and must be validated in discovery. None of it is a finding.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00784"/>
            <a:ext cx="11091672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B45309"/>
                </a:solidFill>
                <a:latin typeface="Segoe UI"/>
              </a:rPr>
              <a:t>READ THIS FIRST — these are ASSUMPTION PLACEHOLDERS, not measurements. A leadership deck is exactly where an unlabelled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assumption gets quoted back six months later as a commitment. What must be validated is named at the bottom of this slide.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423160"/>
          <a:ext cx="66751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371600"/>
                <a:gridCol w="1463040"/>
              </a:tblGrid>
              <a:tr h="31089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Stage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Duration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Indicative revenue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Segoe UI"/>
                        </a:rPr>
                        <a:t>Qualify &amp; discovery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Segoe UI"/>
                        </a:rPr>
                        <a:t>2–4 weeks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Segoe UI"/>
                        </a:rPr>
                        <a:t>$100k – 200k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Segoe UI"/>
                        </a:rPr>
                        <a:t>Single-audit pilot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Segoe UI"/>
                        </a:rPr>
                        <a:t>6–8 weeks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Segoe UI"/>
                        </a:rPr>
                        <a:t>$300k – 600k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Segoe UI"/>
                        </a:rPr>
                        <a:t>Production build (ingestion, provenance, workflow)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Segoe UI"/>
                        </a:rPr>
                        <a:t>6–9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Segoe UI"/>
                        </a:rPr>
                        <a:t>$1.2M – 2.5M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Segoe UI"/>
                        </a:rPr>
                        <a:t>Managed run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Segoe UI"/>
                        </a:rPr>
                        <a:t>annual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Segoe UI"/>
                        </a:rPr>
                        <a:t>$300k – 800k ARR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98079" y="2423160"/>
            <a:ext cx="4142232" cy="105156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87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17536" y="2569464"/>
            <a:ext cx="3703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E40AF"/>
                </a:solidFill>
                <a:latin typeface="Segoe UI"/>
              </a:rPr>
              <a:t>Anchor engagement (PG&amp;E)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7536" y="2990088"/>
            <a:ext cx="3703320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~$2M – 4M over 2–3 years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11880"/>
            <a:ext cx="4142232" cy="123444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1587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17536" y="3758184"/>
            <a:ext cx="3703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66534"/>
                </a:solidFill>
                <a:latin typeface="Segoe UI"/>
              </a:rPr>
              <a:t>Run cost is NOT the constraint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7536" y="4178808"/>
            <a:ext cx="370332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A full 11-regulation monitoring run: well under $1. An audit-prep run: ~$0.20.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The cost is engineering, integration and change management.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160520"/>
            <a:ext cx="6675120" cy="1143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4306824"/>
            <a:ext cx="62362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Where the value actually is — and the order to pitch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4727448"/>
            <a:ext cx="6236208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1. AUDIT READINESS (lead here). 2. Obligation decomposition. 3. Conflict detection. 4. Precedent.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Do NOT lead with regulatory monitoring — it is the least differentiated capability. PG&amp;E's regulatory affairs function already tracks CPUC dockets closely.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4983480"/>
            <a:ext cx="4142232" cy="86868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5875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17536" y="5129784"/>
            <a:ext cx="3703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B45309"/>
                </a:solidFill>
                <a:latin typeface="Segoe UI"/>
              </a:rPr>
              <a:t>MUST be validated first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7536" y="5550408"/>
            <a:ext cx="3703320" cy="1554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• FTE-hours spent on obligation extraction today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• Cost of responding to ONE audit / data request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35508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We deliberately do NOT anchor value to PG&amp;E's headline penalty history. Those penalties came from OPERATIONAL failures — pipeline integrity, vegetation management. This platform does not prevent a wildfire. Claiming a share of them would be dishonest, and a PG&amp;E audience would see through it instantly.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64748B"/>
                </a:solidFill>
                <a:latin typeface="Segoe UI"/>
              </a:rPr>
              <a:t>EFFORT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Implementation effort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What exists today, and what production actually costs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00784"/>
            <a:ext cx="11091672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1587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883664"/>
            <a:ext cx="50017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66534"/>
                </a:solidFill>
                <a:latin typeface="Segoe UI"/>
              </a:rPr>
              <a:t>Already built and verified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304288"/>
            <a:ext cx="5001768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• 7 agents, 4 workflows — running end-to-end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• Provenance verification wired into obligation extraction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• Human-review gate (PENDING_HUMAN_REVIEW)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• 4 industry packs — all build 7/7 agent prompts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• 9 regulators incl. OEIS; 11 regs · 29 cases · 48 evidence docs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• All 5 pages render across every pack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99632" y="1737360"/>
          <a:ext cx="5440679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7639"/>
                <a:gridCol w="1463040"/>
              </a:tblGrid>
              <a:tr h="31089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Gap to close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Effort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Segoe UI"/>
                        </a:rPr>
                        <a:t>Live regulator ingestion (CPUC/OEIS/FERC)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Segoe UI"/>
                        </a:rPr>
                        <a:t>L — 8–16 wks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Segoe UI"/>
                        </a:rPr>
                        <a:t>Real embeddings + vector store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Segoe UI"/>
                        </a:rPr>
                        <a:t>S — 1–3 wks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Segoe UI"/>
                        </a:rPr>
                        <a:t>Persistence + obligation lifecycle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Segoe UI"/>
                        </a:rPr>
                        <a:t>M — 3–8 wks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Segoe UI"/>
                        </a:rPr>
                        <a:t>Span-level provenance (offset into the PDF)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Segoe UI"/>
                        </a:rPr>
                        <a:t>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Segoe UI"/>
                        </a:rPr>
                        <a:t>Evaluation harness (golden set)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Segoe UI"/>
                        </a:rPr>
                        <a:t>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Segoe UI"/>
                        </a:rPr>
                        <a:t>SSO / RBAC / access-scoped retrieval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Segoe UI"/>
                        </a:rPr>
                        <a:t>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3977639"/>
            <a:ext cx="11091672" cy="8686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133087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Production MVP: ~7–9 months elapsed  ·  ~28 FTE-months  ·  indicative build $1.2M – 2.5M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Segoe UI"/>
              </a:rPr>
              <a:t>Each additional industry pack thereafter: ~2.5 FTE-months. That reuse ratio is the strongest commercial argument here.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074920"/>
            <a:ext cx="11091672" cy="109728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587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221224"/>
            <a:ext cx="10652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B91C1C"/>
                </a:solidFill>
                <a:latin typeface="Segoe UI"/>
              </a:rPr>
              <a:t>The biggest single work item — and it is not the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5641848"/>
            <a:ext cx="10652760" cy="3840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LIVE INGESTION. Today the regulations are fixture data; ingestion/scrapers/ and ingestion/parsers/ are empty stub packages. Production needs real connectors to CPUC, OEIS and FERC publication feeds, PDF and HTML parsing, change detection and de-duplication.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Do not present this as a system that monitors anything today. It is a working prototype of the target architecture.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64748B"/>
                </a:solidFill>
                <a:latin typeface="Segoe UI"/>
              </a:rPr>
              <a:t>CREDIBILITY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What is proven — and what is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Stated before anyone has to ask. This is the slide that makes the other ten believable.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00784"/>
            <a:ext cx="11091672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440680" cy="219456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1587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883664"/>
            <a:ext cx="50017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66534"/>
                </a:solidFill>
                <a:latin typeface="Segoe UI"/>
              </a:rPr>
              <a:t>Verified by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304288"/>
            <a:ext cx="5001768" cy="1481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• All 4 industry packs build 7/7 agent prompts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• All 5 pages render across every pack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• Provenance verifier is wired and reports citations verified per run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• The Supervisor's plan now reaches all 3 specialists (a real bug we found and fixed)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• KPI counts computed from the data — they previously claimed 12/28/$19.8B against real corpora of 11/29/$17.47B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737360"/>
            <a:ext cx="5440680" cy="219456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5875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883664"/>
            <a:ext cx="50017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B45309"/>
                </a:solidFill>
                <a:latin typeface="Segoe UI"/>
              </a:rPr>
              <a:t>NOT yet measured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304288"/>
            <a:ext cx="5001768" cy="1481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• AGENT OUTPUT QUALITY IS UNMEASURED. There is no golden set and no evaluation harness. Until one exists, every claim about extraction accuracy is an anecdote.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• How often GPT-4o quotes VERBATIM rather than paraphrasing is unknown. If it paraphrases, obligations correctly show as UNVERIFIED — the system stays honest, but the review looks weak.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14800"/>
            <a:ext cx="11091672" cy="201168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222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51960"/>
            <a:ext cx="1060704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400" b="1">
                <a:solidFill>
                  <a:srgbClr val="B91C1C"/>
                </a:solidFill>
                <a:latin typeface="Segoe UI"/>
              </a:rPr>
              <a:t>What we will NOT claim — we say this first, not when challenged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•  NO LIVE INGESTION. The regulations are fixture data. “Continuously monitors 9 regulators” is the TARGET architecture, not today's function.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•  All corpora are ILLUSTRATIVE. Before a PG&amp;E conversation the case corpus must be replaced with the real public enforcement record — PG&amp;E will recognise its own history instantly.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•  THIS PLATFORM DOES NOT PREVENT A WILDFIRE. PG&amp;E's headline penalties came from operational failures. We do not claim a share of them.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•  Obligations carry no span-level citation into the source PDF yet. For a compliance register that is required, and it is on the roadmap.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5508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Owning the boundary makes every other claim more believable — and it is the only position that survives Q&amp;A with people who know this domain.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The 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63040"/>
            <a:ext cx="3108960" cy="4572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CBD5E1"/>
                </a:solidFill>
                <a:latin typeface="Segoe UI"/>
              </a:rPr>
              <a:t>Do not pitch a platform. Pitch one narrow, falsifiable proof.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97480"/>
            <a:ext cx="10515600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80720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QUALIFY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127248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weeks 0–2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862072"/>
            <a:ext cx="8138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CBD5E1"/>
                </a:solidFill>
                <a:latin typeface="Segoe UI"/>
              </a:rPr>
              <a:t>Discovery with Regulatory Affairs, Internal Audit and Compliance. Size the value with PG&amp;E's OWN numbers. Pick ONE upcoming audit or data request as the target.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794760"/>
            <a:ext cx="10515600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90448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224528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weeks 2–8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959352"/>
            <a:ext cx="8138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CBD5E1"/>
                </a:solidFill>
                <a:latin typeface="Segoe UI"/>
              </a:rPr>
              <a:t>A single-audit pilot. Load the REAL obligations and the REAL evidence inventory for that audit's scope. Run Module 3.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92040"/>
            <a:ext cx="10515600" cy="960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00176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EXPAND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321807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post-pilot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5056631"/>
            <a:ext cx="8138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CBD5E1"/>
                </a:solidFill>
                <a:latin typeface="Segoe UI"/>
              </a:rPr>
              <a:t>Only if the pilot clears the bar: live ingestion for CPUC + OEIS, span-level provenance, the review workflow, persistence.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6035040"/>
            <a:ext cx="10515600" cy="548640"/>
          </a:xfrm>
          <a:prstGeom prst="roundRect">
            <a:avLst>
              <a:gd name="adj" fmla="val 6000"/>
            </a:avLst>
          </a:prstGeom>
          <a:solidFill>
            <a:srgbClr val="45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61447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CA5A5"/>
                </a:solidFill>
                <a:latin typeface="Segoe UI"/>
              </a:rPr>
              <a:t>Success is BINARY: did Module 3 surface a real evidence gap the team did not already know about? The pilot is designed so that it CAN FAIL — and if it does, we say so.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